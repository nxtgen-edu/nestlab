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51022" autoAdjust="0"/>
  </p:normalViewPr>
  <p:slideViewPr>
    <p:cSldViewPr snapToGrid="0" snapToObjects="1">
      <p:cViewPr varScale="1">
        <p:scale>
          <a:sx n="61" d="100"/>
          <a:sy n="61" d="100"/>
        </p:scale>
        <p:origin x="214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66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open the Config cell from Day 1 </a:t>
            </a:r>
            <a:br>
              <a:rPr lang="en-US" dirty="0"/>
            </a:br>
            <a:r>
              <a:rPr lang="en-US" dirty="0"/>
              <a:t>Paste as first cell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Ask them to change the file name and Import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one thing goes up, does another thing go up or down with it?" That's all correlation is — whether two columns move together.</a:t>
            </a:r>
          </a:p>
          <a:p>
            <a:r>
              <a:rPr lang="en-US" dirty="0"/>
              <a:t>Give them a life example first: the more hours you study, the higher your marks. Those two move together — that's a strong positive correlation. And the more you skip class, the lower your marks — those move in opposite directions — that's a negative correlation. Height and marks? No connection — that's near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784080" y="-548640"/>
            <a:ext cx="3291840" cy="3291840"/>
          </a:xfrm>
          <a:prstGeom prst="ellipse">
            <a:avLst/>
          </a:prstGeom>
          <a:solidFill>
            <a:srgbClr val="C0272D">
              <a:alpha val="3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920240" cy="1920240"/>
          </a:xfrm>
          <a:prstGeom prst="ellipse">
            <a:avLst/>
          </a:prstGeom>
          <a:solidFill>
            <a:srgbClr val="B0832B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 •  DAY 2 ACTIVITIES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Lab — Step by Step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A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Visualise, hunt outliers, analyse, and tell a story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these slides when a team is stuck, or to confirm their approach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8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clean data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22960" y="1600200"/>
            <a:ext cx="10515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your config cell from Day 1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all your cleaning cells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df.info() shows clean, numeric, complete data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470916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4709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cost column numeric and your data free of missing values?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the day from a clean df. A fresh Jupyter kernel forgets all variables — just re-run.</a:t>
            </a:r>
            <a:endParaRPr lang="en-US" sz="145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6143172A-2616-B2FE-661E-C099439E68D7}"/>
              </a:ext>
            </a:extLst>
          </p:cNvPr>
          <p:cNvSpPr/>
          <p:nvPr/>
        </p:nvSpPr>
        <p:spPr>
          <a:xfrm>
            <a:off x="914400" y="2736936"/>
            <a:ext cx="10332720" cy="1697903"/>
          </a:xfrm>
          <a:prstGeom prst="roundRect">
            <a:avLst>
              <a:gd name="adj" fmla="val 1290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en-IN" dirty="0"/>
              <a:t>Change the config file path to the new file name</a:t>
            </a:r>
            <a:br>
              <a:rPr lang="en-IN" dirty="0"/>
            </a:br>
            <a:endParaRPr lang="en-IN" dirty="0"/>
          </a:p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</a:rPr>
              <a:t>import pandas as pd</a:t>
            </a:r>
          </a:p>
          <a:p>
            <a:pPr>
              <a:lnSpc>
                <a:spcPct val="105000"/>
              </a:lnSpc>
            </a:pPr>
            <a:r>
              <a:rPr lang="en-US" sz="1250" dirty="0" err="1">
                <a:solidFill>
                  <a:srgbClr val="15324B"/>
                </a:solidFill>
                <a:latin typeface="Consolas" pitchFamily="34" charset="0"/>
              </a:rPr>
              <a:t>df</a:t>
            </a:r>
            <a:r>
              <a:rPr lang="en-US" sz="1250" dirty="0">
                <a:solidFill>
                  <a:srgbClr val="15324B"/>
                </a:solidFill>
                <a:latin typeface="Consolas" pitchFamily="34" charset="0"/>
              </a:rPr>
              <a:t> = </a:t>
            </a:r>
            <a:r>
              <a:rPr lang="en-US" sz="1250" dirty="0" err="1">
                <a:solidFill>
                  <a:srgbClr val="15324B"/>
                </a:solidFill>
                <a:latin typeface="Consolas" pitchFamily="34" charset="0"/>
              </a:rPr>
              <a:t>pd.read_csv</a:t>
            </a:r>
            <a:r>
              <a:rPr lang="en-US" sz="1250" dirty="0">
                <a:solidFill>
                  <a:srgbClr val="15324B"/>
                </a:solidFill>
                <a:latin typeface="Consolas" pitchFamily="34" charset="0"/>
              </a:rPr>
              <a:t>('sales_clean.csv')</a:t>
            </a:r>
            <a:r>
              <a:rPr lang="en-US" sz="1250" dirty="0" err="1">
                <a:solidFill>
                  <a:srgbClr val="15324B"/>
                </a:solidFill>
                <a:latin typeface="Consolas" pitchFamily="34" charset="0"/>
              </a:rPr>
              <a:t>df.head</a:t>
            </a:r>
            <a:r>
              <a:rPr lang="en-US" sz="1250" dirty="0">
                <a:solidFill>
                  <a:srgbClr val="15324B"/>
                </a:solidFill>
                <a:latin typeface="Consolas" pitchFamily="34" charset="0"/>
              </a:rPr>
              <a:t>()</a:t>
            </a:r>
            <a:endParaRPr lang="en-IN" sz="1250" dirty="0">
              <a:solidFill>
                <a:srgbClr val="15324B"/>
              </a:solidFill>
              <a:latin typeface="Consolas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8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— a histogram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600200"/>
            <a:ext cx="10332720" cy="2834640"/>
          </a:xfrm>
          <a:prstGeom prst="roundRect">
            <a:avLst>
              <a:gd name="adj" fmla="val 1290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14400" y="1600200"/>
            <a:ext cx="64008" cy="2834640"/>
          </a:xfrm>
          <a:prstGeom prst="rect">
            <a:avLst/>
          </a:prstGeom>
          <a:solidFill>
            <a:srgbClr val="C02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97280" y="1709928"/>
            <a:ext cx="100126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plt, seaborn as sns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df[OUTLIER_COL].plot(kind='hist', bins=30,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title=OUTLIER_COL)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most of the values sit? Is there a long tail to one side?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shows the shape — is it bunched, spread, or skewed? Missing plt.show() = no chart.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8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— a bar chart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600200"/>
            <a:ext cx="10332720" cy="2834640"/>
          </a:xfrm>
          <a:prstGeom prst="roundRect">
            <a:avLst>
              <a:gd name="adj" fmla="val 1290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14400" y="1600200"/>
            <a:ext cx="64008" cy="2834640"/>
          </a:xfrm>
          <a:prstGeom prst="rect">
            <a:avLst/>
          </a:prstGeom>
          <a:solidFill>
            <a:srgbClr val="C02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97280" y="1709928"/>
            <a:ext cx="100126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df[CAT_FEATURES[0]].value_counts().plot(kind='bar')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is the biggest? The smallest?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compare groups at a glance. This is the most common chart in a business report.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8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view — outcome by category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600200"/>
            <a:ext cx="10332720" cy="2834640"/>
          </a:xfrm>
          <a:prstGeom prst="roundRect">
            <a:avLst>
              <a:gd name="adj" fmla="val 1290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14400" y="1600200"/>
            <a:ext cx="64008" cy="2834640"/>
          </a:xfrm>
          <a:prstGeom prst="rect">
            <a:avLst/>
          </a:prstGeom>
          <a:solidFill>
            <a:srgbClr val="C02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97280" y="1709928"/>
            <a:ext cx="100126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(df.groupby(CAT_FEATURES[0])[TARGET]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.value_counts(normalize=True)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.unstack().plot(kind='bar', stacked=True))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 has the worst outcome (most late / most returns / etc.)?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links a category to the thing you care about — it's the first real insight.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8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— a heatmap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4400" y="1600200"/>
            <a:ext cx="10332720" cy="2834640"/>
          </a:xfrm>
          <a:prstGeom prst="roundRect">
            <a:avLst>
              <a:gd name="adj" fmla="val 1290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14400" y="1600200"/>
            <a:ext cx="64008" cy="2834640"/>
          </a:xfrm>
          <a:prstGeom prst="rect">
            <a:avLst/>
          </a:prstGeom>
          <a:solidFill>
            <a:srgbClr val="C02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97280" y="1709928"/>
            <a:ext cx="100126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sns.heatmap(df.corr(numeric_only=True),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annot=True, cmap='Reds')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numbers move together most strongly?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hints at what the model can learn tomorrow. But correlation ≠ causation.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B083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6 OF 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Find the outliers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 this — `mask` marks every value far outside the normal range.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`mask.sum()` = HOW MANY;  `df[mask]` = WHICH rows (look at them!).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boxplot may show fewer dots than the count — points overlap. Trust `df[mask]`, not the dots.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26480" y="1554480"/>
            <a:ext cx="5394960" cy="2103120"/>
          </a:xfrm>
          <a:prstGeom prst="roundRect">
            <a:avLst>
              <a:gd name="adj" fmla="val 1739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64008" cy="2103120"/>
          </a:xfrm>
          <a:prstGeom prst="rect">
            <a:avLst/>
          </a:prstGeom>
          <a:solidFill>
            <a:srgbClr val="C027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09360" y="1664208"/>
            <a:ext cx="5074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col = OUTLIER_COL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Q1, Q3 = df[col].quantile([0.25, 0.75])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mask = (df[col] &lt; Q1-1.5*IQR) | (df[col] &gt; Q3+1.5*IQR)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print('Outliers found:', mask.sum())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df[mask]                    # &lt;- the actual rows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sns.boxplot(x=df[col]); plt.show()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3767328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F5ECD9"/>
          </a:solidFill>
          <a:ln w="19050">
            <a:solidFill>
              <a:srgbClr val="B083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376732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8A6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   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outlier COUNT + the flagged rows on screen via df[mask].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0080" y="4517136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8680" y="45171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27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did IQR flag? Do the boxplot dots match that number?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5230368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8680" y="52303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A6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the dots look fewer, points overlap — the table is the truth. Next: are these real, or errors?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B083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7 OF 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Decide: keep or remove each outlier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Ask ONE question about each flagged row: is this value even POSSIBLE?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(e.g. a &gt;100% discount) → it's an error → REMOVE the row.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 but extreme (e.g. a 60-day lead time) → it's genuine → KEEP it.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your data, most are REAL — keep them; remove only the impossible ones. Then write one sentence.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26480" y="1554480"/>
            <a:ext cx="5394960" cy="2103120"/>
          </a:xfrm>
          <a:prstGeom prst="roundRect">
            <a:avLst>
              <a:gd name="adj" fmla="val 1739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64008" cy="2103120"/>
          </a:xfrm>
          <a:prstGeom prst="rect">
            <a:avLst/>
          </a:prstGeom>
          <a:solidFill>
            <a:srgbClr val="C027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09360" y="1664208"/>
            <a:ext cx="5074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impossible rows (keep all NOT flagged):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df[~mask]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(advanced) CAP instead of deleting: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df.loc[df[col] &gt; LIMIT, col] = LIMIT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3767328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F5ECD9"/>
          </a:solidFill>
          <a:ln w="19050">
            <a:solidFill>
              <a:srgbClr val="B083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376732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8A6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   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keep/remove decision + one sentence, e.g. “Kept all 5 — real slow suppliers, not errors.”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0080" y="4517136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8680" y="45171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27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your team decide, and why?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5230368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8680" y="52303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A6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'Cap' = replace a crazy value with a sensible max — advanced, rarely needed here. Documenting the decision IS the analyst's job.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B083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8 OF 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38404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Activity: build your data story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EVERYTHING you made today — histogram, bar, outcome-by-category, heatmap, outliers.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the 3 that together answer: “what should the business DO about your target?”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 the story spine (right): setup → clue → proof.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Write ONE headline — an action a manager takes tomorrow.  (~20 min, then present)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26480" y="1554480"/>
            <a:ext cx="5394960" cy="2103120"/>
          </a:xfrm>
          <a:prstGeom prst="roundRect">
            <a:avLst>
              <a:gd name="adj" fmla="val 1739"/>
            </a:avLst>
          </a:prstGeom>
          <a:solidFill>
            <a:srgbClr val="F3EDED"/>
          </a:solidFill>
          <a:ln w="12700">
            <a:solidFill>
              <a:srgbClr val="D9C7C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64008" cy="2103120"/>
          </a:xfrm>
          <a:prstGeom prst="rect">
            <a:avLst/>
          </a:prstGeom>
          <a:solidFill>
            <a:srgbClr val="C027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09360" y="1664208"/>
            <a:ext cx="5074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STORY SPINE   (fill from your charts)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1 SETUP   chart:______  shows:_________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 CLUE    chart:______  shows:_________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3 PROOF   chart:______  shows:_________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 -&gt; the one action: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324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3767328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F5ECD9"/>
          </a:solidFill>
          <a:ln w="19050">
            <a:solidFill>
              <a:srgbClr val="B083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376732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8A6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   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3-chart story (setup → clue → proof) + a one-line action headline, ready to present.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0080" y="4517136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AE8E7"/>
          </a:solidFill>
          <a:ln w="12700">
            <a:solidFill>
              <a:srgbClr val="C0272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8680" y="45171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27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business DO because of your story?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5230368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5ECD9"/>
          </a:solidFill>
          <a:ln w="12700">
            <a:solidFill>
              <a:srgbClr val="B083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8680" y="52303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A64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DISCUSS / CONFIRM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Spine example: 'Apparel returns most' → 'Apparel gets the deepest discounts' → 'the two correlate' → headline: stop deep-discounting Apparel.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97680"/>
            <a:ext cx="4937760" cy="4937760"/>
          </a:xfrm>
          <a:prstGeom prst="ellipse">
            <a:avLst/>
          </a:prstGeom>
          <a:solidFill>
            <a:srgbClr val="C0272D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B0832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— 12:45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— share your work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takes ~2 minutes: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74520" y="30175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8C2F2D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918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it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306824" y="3017520"/>
            <a:ext cx="57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846320" y="30175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8C2F2D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29184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it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278624" y="3017520"/>
            <a:ext cx="57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818120" y="30175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8C2F2D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29184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181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insight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preview tomorrow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1174</Words>
  <Application>Microsoft Office PowerPoint</Application>
  <PresentationFormat>Widescreen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 Day 2 Activities</dc:title>
  <dc:subject>PptxGenJS Presentation</dc:subject>
  <dc:creator>NEST</dc:creator>
  <cp:lastModifiedBy>Selva Subramaniam</cp:lastModifiedBy>
  <cp:revision>4</cp:revision>
  <dcterms:created xsi:type="dcterms:W3CDTF">2026-06-29T05:33:05Z</dcterms:created>
  <dcterms:modified xsi:type="dcterms:W3CDTF">2026-07-05T04:39:01Z</dcterms:modified>
</cp:coreProperties>
</file>