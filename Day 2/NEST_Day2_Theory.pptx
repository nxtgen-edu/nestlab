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7" r:id="rId9"/>
    <p:sldId id="268" r:id="rId10"/>
    <p:sldId id="261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461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0207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charts, three statistics, and outliers in ~35 min. Keep it visual — draw each chart shape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point physically: show a wall of numbers, then the same data as a chart. The chart wins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whole day: today IS exploratory data analysis. The four moves map exactly onto the lab — summarise, visualise, correlate, spot outliers.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recognisable decisions driven purely by exploring data — streaming (Netflix binge model), gaming (level drop-off), e-commerce (cart abandonment). For each: explore → find →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picker. Match the question to the chart. Distribution=histogram/box, compare=bar, relationship=scatter, over-time=line, correlation=heatmap.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stats intuitive: average, spread, correlation. Hammer correlation ≠ causation with the ice-cream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Outliers are extreme values. Distinguish a real extreme from an error. Find with boxplot/IQR; decide and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Broaden the view: Python is one of many tools. Power BI and Tableau dominate business dashboards; Excel and Looker Studio are everywhere. The thinking transfers across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Career framing tied to placement: learn one BI tool (Power BI or Tableau) next, keep Python as the analysis edge, and never neglect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 them into the lab to visualise their own dataset and build a 3-chart data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17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120640" cy="512064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784080" y="-548640"/>
            <a:ext cx="3291840" cy="3291840"/>
          </a:xfrm>
          <a:prstGeom prst="ellipse">
            <a:avLst/>
          </a:prstGeom>
          <a:solidFill>
            <a:srgbClr val="C0272D">
              <a:alpha val="3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469880" y="137160"/>
            <a:ext cx="1920240" cy="1920240"/>
          </a:xfrm>
          <a:prstGeom prst="ellipse">
            <a:avLst/>
          </a:prstGeom>
          <a:solidFill>
            <a:srgbClr val="B0832B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  •  DATA, AI &amp; ML — DAY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196596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the Story in Data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EA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the statistics behind ML, and hunting outliers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A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~35-minute opener before the hands-on lab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17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visualise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7A17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of 400 rows tells you nothing at a glance. One chart tells you everything.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77240" y="2542032"/>
            <a:ext cx="182880" cy="182880"/>
          </a:xfrm>
          <a:prstGeom prst="ellipse">
            <a:avLst/>
          </a:prstGeom>
          <a:solidFill>
            <a:srgbClr val="C027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43000" y="24231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 reveals the shape, the trend, and the odd value instantly.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3328416"/>
            <a:ext cx="182880" cy="182880"/>
          </a:xfrm>
          <a:prstGeom prst="ellipse">
            <a:avLst/>
          </a:prstGeom>
          <a:solidFill>
            <a:srgbClr val="C027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43000" y="320954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read pictures far faster than columns of numbers.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4114800"/>
            <a:ext cx="182880" cy="182880"/>
          </a:xfrm>
          <a:prstGeom prst="ellipse">
            <a:avLst/>
          </a:prstGeom>
          <a:solidFill>
            <a:srgbClr val="C027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143000" y="399592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you'll present this week starts life as a chart.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86800" y="2377440"/>
            <a:ext cx="2743200" cy="2743200"/>
          </a:xfrm>
          <a:prstGeom prst="ellipse">
            <a:avLst/>
          </a:prstGeom>
          <a:solidFill>
            <a:srgbClr val="F4E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32004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7A171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Today's real skill: EDA (Exploratory Data Analysis)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94360" y="1783080"/>
            <a:ext cx="240030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875">
            <a:solidFill>
              <a:srgbClr val="E0D2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54430" y="2148840"/>
            <a:ext cx="1280160" cy="1280160"/>
          </a:xfrm>
          <a:prstGeom prst="ellipse">
            <a:avLst/>
          </a:prstGeom>
          <a:solidFill>
            <a:srgbClr val="F4E8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462" y="2404872"/>
            <a:ext cx="768096" cy="768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611880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A171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Summarise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2960" y="4114800"/>
            <a:ext cx="1943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A5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What's typical? averages, counts, describe().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451860" y="1783080"/>
            <a:ext cx="240030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875">
            <a:solidFill>
              <a:srgbClr val="E0D2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011930" y="2148840"/>
            <a:ext cx="1280160" cy="1280160"/>
          </a:xfrm>
          <a:prstGeom prst="ellipse">
            <a:avLst/>
          </a:prstGeom>
          <a:solidFill>
            <a:srgbClr val="F4E8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962" y="2404872"/>
            <a:ext cx="768096" cy="7680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43300" y="3611880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A171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Visualise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680460" y="4114800"/>
            <a:ext cx="1943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A5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See the shape — histograms &amp; bar charts.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309360" y="1783080"/>
            <a:ext cx="240030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875">
            <a:solidFill>
              <a:srgbClr val="E0D2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869430" y="2148840"/>
            <a:ext cx="1280160" cy="1280160"/>
          </a:xfrm>
          <a:prstGeom prst="ellipse">
            <a:avLst/>
          </a:prstGeom>
          <a:solidFill>
            <a:srgbClr val="F4E8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462" y="2404872"/>
            <a:ext cx="768096" cy="7680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3611880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A171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Find links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537960" y="4114800"/>
            <a:ext cx="1943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A5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moves with what? correlation.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9166860" y="1783080"/>
            <a:ext cx="240030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875">
            <a:solidFill>
              <a:srgbClr val="E0D2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9726930" y="2148840"/>
            <a:ext cx="1280160" cy="1280160"/>
          </a:xfrm>
          <a:prstGeom prst="ellipse">
            <a:avLst/>
          </a:prstGeom>
          <a:solidFill>
            <a:srgbClr val="F4E8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2962" y="2404872"/>
            <a:ext cx="768096" cy="7680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58300" y="3611880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A171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Spot the odd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9395460" y="4114800"/>
            <a:ext cx="1943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A5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Find outliers &amp; data-entry errors.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7A171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EDA = getting to know your data before you model it. Every step today is one of these four moves.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7A171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Why EDA matters — three real business decisions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94360" y="1783080"/>
            <a:ext cx="33528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E0D2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630680" y="2148840"/>
            <a:ext cx="1280160" cy="1280160"/>
          </a:xfrm>
          <a:prstGeom prst="ellipse">
            <a:avLst/>
          </a:prstGeom>
          <a:solidFill>
            <a:srgbClr val="F4E8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712" y="2404872"/>
            <a:ext cx="768096" cy="768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611880"/>
            <a:ext cx="316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A171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Streaming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2960" y="4114800"/>
            <a:ext cx="289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A5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Netflix explored viewing data → people who binged a whole season rarely cancelled → it began releasing full seasons at once.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404360" y="1783080"/>
            <a:ext cx="33528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E0D2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40680" y="2148840"/>
            <a:ext cx="1280160" cy="1280160"/>
          </a:xfrm>
          <a:prstGeom prst="ellipse">
            <a:avLst/>
          </a:prstGeom>
          <a:solidFill>
            <a:srgbClr val="F4E8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2404872"/>
            <a:ext cx="768096" cy="7680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95800" y="3611880"/>
            <a:ext cx="316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A171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Gaming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632960" y="4114800"/>
            <a:ext cx="289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A5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studio explored where players quit → most rage-quit at one hard level → they rebalanced it and more players finished.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214360" y="1783080"/>
            <a:ext cx="33528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E0D2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9250680" y="2148840"/>
            <a:ext cx="1280160" cy="1280160"/>
          </a:xfrm>
          <a:prstGeom prst="ellipse">
            <a:avLst/>
          </a:prstGeom>
          <a:solidFill>
            <a:srgbClr val="F4E8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6712" y="2404872"/>
            <a:ext cx="768096" cy="7680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05800" y="3611880"/>
            <a:ext cx="316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A171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E-commerce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8442960" y="4114800"/>
            <a:ext cx="289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A5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store explored the checkout funnel → most carts were dropped at the shipping-cost step → free shipping over ₹500 lifted orders.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7A171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needed a fancy model — just careful EDA. That's the skill you're building today.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17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the right chart for the question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783080"/>
            <a:ext cx="240030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875">
            <a:solidFill>
              <a:srgbClr val="E0D2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54430" y="2148840"/>
            <a:ext cx="1280160" cy="1280160"/>
          </a:xfrm>
          <a:prstGeom prst="ellipse">
            <a:avLst/>
          </a:prstGeom>
          <a:solidFill>
            <a:srgbClr val="F4E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462" y="2404872"/>
            <a:ext cx="768096" cy="768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611880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7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4114800"/>
            <a:ext cx="1943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number's spread → histogram / boxplot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451860" y="1783080"/>
            <a:ext cx="240030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875">
            <a:solidFill>
              <a:srgbClr val="E0D2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011930" y="2148840"/>
            <a:ext cx="1280160" cy="1280160"/>
          </a:xfrm>
          <a:prstGeom prst="ellipse">
            <a:avLst/>
          </a:prstGeom>
          <a:solidFill>
            <a:srgbClr val="F4E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962" y="2404872"/>
            <a:ext cx="768096" cy="7680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43300" y="3611880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7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680460" y="4114800"/>
            <a:ext cx="1943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categories → bar chart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309360" y="1783080"/>
            <a:ext cx="240030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875">
            <a:solidFill>
              <a:srgbClr val="E0D2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6869430" y="2148840"/>
            <a:ext cx="1280160" cy="1280160"/>
          </a:xfrm>
          <a:prstGeom prst="ellipse">
            <a:avLst/>
          </a:prstGeom>
          <a:solidFill>
            <a:srgbClr val="F4E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462" y="2404872"/>
            <a:ext cx="768096" cy="7680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3611880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7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537960" y="4114800"/>
            <a:ext cx="1943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 together → scatter plot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9166860" y="1783080"/>
            <a:ext cx="240030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875">
            <a:solidFill>
              <a:srgbClr val="E0D2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9726930" y="2148840"/>
            <a:ext cx="1280160" cy="1280160"/>
          </a:xfrm>
          <a:prstGeom prst="ellipse">
            <a:avLst/>
          </a:prstGeom>
          <a:solidFill>
            <a:srgbClr val="F4E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2962" y="2404872"/>
            <a:ext cx="768096" cy="7680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58300" y="3611880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17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9395460" y="4114800"/>
            <a:ext cx="19431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numbers move together → heatmap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17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statistics that matter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257800" cy="4206240"/>
          </a:xfrm>
          <a:prstGeom prst="roundRect">
            <a:avLst>
              <a:gd name="adj" fmla="val 1957"/>
            </a:avLst>
          </a:prstGeom>
          <a:solidFill>
            <a:srgbClr val="FAE8E7"/>
          </a:solidFill>
          <a:ln w="15875">
            <a:solidFill>
              <a:srgbClr val="C0272D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6868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— the typical value.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— how much values vary around it.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— do two things move together?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63640" y="1645920"/>
            <a:ext cx="5257800" cy="4206240"/>
          </a:xfrm>
          <a:prstGeom prst="roundRect">
            <a:avLst>
              <a:gd name="adj" fmla="val 1957"/>
            </a:avLst>
          </a:prstGeom>
          <a:solidFill>
            <a:srgbClr val="F5ECD9"/>
          </a:solidFill>
          <a:ln w="15875">
            <a:solidFill>
              <a:srgbClr val="B0832B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9224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08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warning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24231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NOT causation.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Ice-cream sales and drownings both rise in summer — neither causes the other.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learns from correlations — so we look for them, carefully.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7A17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find these patterns by eye; on Day 3 the model finds them automatically.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17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Outliers: find them, then judge them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257800" cy="4206240"/>
          </a:xfrm>
          <a:prstGeom prst="roundRect">
            <a:avLst>
              <a:gd name="adj" fmla="val 1957"/>
            </a:avLst>
          </a:prstGeom>
          <a:solidFill>
            <a:srgbClr val="FAE8E7"/>
          </a:solidFill>
          <a:ln w="15875">
            <a:solidFill>
              <a:srgbClr val="C0272D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6868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rare event — e.g. one huge order.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data-entry error — e.g. a 150% discount, which is impossible.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chart finds both; your judgement tells them apart.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63640" y="1645920"/>
            <a:ext cx="5257800" cy="4206240"/>
          </a:xfrm>
          <a:prstGeom prst="roundRect">
            <a:avLst>
              <a:gd name="adj" fmla="val 1957"/>
            </a:avLst>
          </a:prstGeom>
          <a:solidFill>
            <a:srgbClr val="F5ECD9"/>
          </a:solidFill>
          <a:ln w="15875">
            <a:solidFill>
              <a:srgbClr val="B0832B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9224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08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24231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them with a boxplot or the IQR rule.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keep, cap, or remove.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write down WHY — that's real analyst work.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7A171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Other visualisation tools in the market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94360" y="1783080"/>
            <a:ext cx="3352800" cy="3200400"/>
          </a:xfrm>
          <a:prstGeom prst="roundRect">
            <a:avLst>
              <a:gd name="adj" fmla="val 2857"/>
            </a:avLst>
          </a:prstGeom>
          <a:solidFill>
            <a:srgbClr val="7A1719"/>
          </a:solidFill>
          <a:ln w="12700">
            <a:solidFill>
              <a:srgbClr val="7A1719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630680" y="2148840"/>
            <a:ext cx="1280160" cy="1280160"/>
          </a:xfrm>
          <a:prstGeom prst="ellipse">
            <a:avLst/>
          </a:prstGeom>
          <a:solidFill>
            <a:srgbClr val="B0832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712" y="2404872"/>
            <a:ext cx="768096" cy="768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611880"/>
            <a:ext cx="316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2960" y="4114800"/>
            <a:ext cx="289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AD8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 / plotly — what you're learning. Free, flexible, best for analysis + automation.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404360" y="1783080"/>
            <a:ext cx="33528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E0D2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40680" y="2148840"/>
            <a:ext cx="1280160" cy="1280160"/>
          </a:xfrm>
          <a:prstGeom prst="ellipse">
            <a:avLst/>
          </a:prstGeom>
          <a:solidFill>
            <a:srgbClr val="F4E8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2404872"/>
            <a:ext cx="768096" cy="7680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95800" y="3611880"/>
            <a:ext cx="316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A171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Power BI &amp; Tableau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632960" y="4114800"/>
            <a:ext cx="289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A5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business-dashboard standard. Drag-and-drop, interactive — the most-wanted in job posts.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214360" y="1783080"/>
            <a:ext cx="33528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E0D2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9250680" y="2148840"/>
            <a:ext cx="1280160" cy="1280160"/>
          </a:xfrm>
          <a:prstGeom prst="ellipse">
            <a:avLst/>
          </a:prstGeom>
          <a:solidFill>
            <a:srgbClr val="F4E8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6712" y="2404872"/>
            <a:ext cx="768096" cy="7680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05800" y="3611880"/>
            <a:ext cx="316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A171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Excel &amp; Looker Studio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8442960" y="4114800"/>
            <a:ext cx="289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5A53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Already everywhere. Excel for quick charts; Looker Studio for free, shareable dashboards.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7A171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Same ideas — distribution, comparison, correlation — just different tools.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7A1719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Which tool should you learn next?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1" u="none" strike="noStrike" kern="1200" cap="none" spc="0" normalizeH="0" baseline="0" noProof="0" dirty="0">
                <a:ln>
                  <a:noFill/>
                </a:ln>
                <a:solidFill>
                  <a:srgbClr val="7A171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You're learning the thinking — the tool is easy to swap once you understand the ideas.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7240" y="2542032"/>
            <a:ext cx="182880" cy="182880"/>
          </a:xfrm>
          <a:prstGeom prst="ellipse">
            <a:avLst/>
          </a:prstGeom>
          <a:solidFill>
            <a:srgbClr val="C027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24231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a data-analyst job, Power BI or Tableau appear in a large share of listings — pick one and build 2–3 dashboards.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7240" y="3328416"/>
            <a:ext cx="182880" cy="182880"/>
          </a:xfrm>
          <a:prstGeom prst="ellipse">
            <a:avLst/>
          </a:prstGeom>
          <a:solidFill>
            <a:srgbClr val="C027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320954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Python (what you have now) stays your edge for cleaning, analysis and automation.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4114800"/>
            <a:ext cx="182880" cy="182880"/>
          </a:xfrm>
          <a:prstGeom prst="ellipse">
            <a:avLst/>
          </a:prstGeom>
          <a:solidFill>
            <a:srgbClr val="C027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399592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Excel never leaves — strong Excel + one BI tool + Python basics is a very employable combination.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0" y="2377440"/>
            <a:ext cx="2743200" cy="2743200"/>
          </a:xfrm>
          <a:prstGeom prst="ellipse">
            <a:avLst/>
          </a:prstGeom>
          <a:solidFill>
            <a:srgbClr val="F4E8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32004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7A17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297680"/>
            <a:ext cx="4937760" cy="4937760"/>
          </a:xfrm>
          <a:prstGeom prst="ellipse">
            <a:avLst/>
          </a:prstGeom>
          <a:solidFill>
            <a:srgbClr val="C0272D">
              <a:alpha val="1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822960" y="5029200"/>
            <a:ext cx="2743200" cy="2743200"/>
          </a:xfrm>
          <a:prstGeom prst="ellipse">
            <a:avLst/>
          </a:prstGeom>
          <a:solidFill>
            <a:srgbClr val="B0832B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0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YOUR TURN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" y="1097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your own data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A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your cleaned dataset and make it talk: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8620" y="301752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8C2F2D"/>
          </a:solidFill>
          <a:ln w="15875">
            <a:solidFill>
              <a:srgbClr val="C0272D"/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329184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8620" y="4096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Visualise it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820924" y="3017520"/>
            <a:ext cx="576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60420" y="301752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8C2F2D"/>
          </a:solidFill>
          <a:ln w="15875">
            <a:solidFill>
              <a:srgbClr val="C0272D"/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3291840"/>
            <a:ext cx="731520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60420" y="4096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outliers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792724" y="3017520"/>
            <a:ext cx="576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6332220" y="301752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8C2F2D"/>
          </a:solidFill>
          <a:ln w="15875">
            <a:solidFill>
              <a:srgbClr val="C0272D"/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0" y="3291840"/>
            <a:ext cx="731520" cy="7315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32220" y="4096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questions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764524" y="3017520"/>
            <a:ext cx="576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9304020" y="301752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8C2F2D"/>
          </a:solidFill>
          <a:ln w="15875">
            <a:solidFill>
              <a:srgbClr val="C0272D"/>
            </a:solidFill>
            <a:prstDash val="solid"/>
          </a:ln>
          <a:effectLst>
            <a:outerShdw blurRad="1016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2700" y="3291840"/>
            <a:ext cx="731520" cy="7315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04020" y="4096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the story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0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 some charts.  →  Lab 1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936</Words>
  <Application>Microsoft Office PowerPoint</Application>
  <PresentationFormat>Widescreen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 Day 2 Theory</dc:title>
  <dc:subject>PptxGenJS Presentation</dc:subject>
  <dc:creator>NEST</dc:creator>
  <cp:lastModifiedBy>Selva Subramaniam</cp:lastModifiedBy>
  <cp:revision>2</cp:revision>
  <dcterms:created xsi:type="dcterms:W3CDTF">2026-06-29T04:25:15Z</dcterms:created>
  <dcterms:modified xsi:type="dcterms:W3CDTF">2026-07-05T04:38:19Z</dcterms:modified>
</cp:coreProperties>
</file>